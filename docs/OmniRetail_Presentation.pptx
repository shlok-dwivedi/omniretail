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005840"/>
            <a:ext cx="10728655" cy="5303520"/>
          </a:xfrm>
          <a:prstGeom prst="rect">
            <a:avLst/>
          </a:prstGeom>
          <a:noFill/>
        </p:spPr>
        <p:txBody>
          <a:bodyPr wrap="square" lIns="0" tIns="0" rIns="0" bIns="0">
            <a:spAutoFit/>
          </a:bodyPr>
          <a:lstStyle/>
          <a:p>
            <a:pPr>
              <a:spcAft>
                <a:spcPts val="800"/>
              </a:spcAft>
              <a:defRPr sz="1100" b="1">
                <a:solidFill>
                  <a:srgbClr val="5F5F5F"/>
                </a:solidFill>
                <a:latin typeface="Calibri"/>
              </a:defRPr>
            </a:pPr>
            <a:r>
              <a:t>DATA ANALYTICS &amp; VISUALIZATION CAPSTONE | ACADEMIC PROJECT</a:t>
            </a:r>
          </a:p>
          <a:p>
            <a:pPr>
              <a:spcAft>
                <a:spcPts val="800"/>
              </a:spcAft>
              <a:defRPr sz="3600" b="1">
                <a:solidFill>
                  <a:srgbClr val="000000"/>
                </a:solidFill>
                <a:latin typeface="Calibri"/>
              </a:defRPr>
            </a:pPr>
            <a:r>
              <a:t>OmniRetail Analytics Platform</a:t>
            </a:r>
          </a:p>
          <a:p>
            <a:pPr>
              <a:spcAft>
                <a:spcPts val="2400"/>
              </a:spcAft>
              <a:defRPr sz="1800">
                <a:solidFill>
                  <a:srgbClr val="1E1E1E"/>
                </a:solidFill>
                <a:latin typeface="Calibri"/>
              </a:defRPr>
            </a:pPr>
            <a:r>
              <a:t>End-to-End Retail Intelligence, Customer Lifetime Value Modeling &amp; Time-Series Demand Forecasting</a:t>
            </a:r>
          </a:p>
          <a:p>
            <a:pPr>
              <a:spcAft>
                <a:spcPts val="1400"/>
              </a:spcAft>
              <a:defRPr sz="1400" b="1">
                <a:solidFill>
                  <a:srgbClr val="000000"/>
                </a:solidFill>
                <a:latin typeface="Calibri"/>
              </a:defRPr>
            </a:pPr>
            <a:r>
              <a:t>A Complete Synthesis of Coursework Practicals (Labs 0 through 8)</a:t>
            </a:r>
          </a:p>
          <a:p>
            <a:pPr>
              <a:spcAft>
                <a:spcPts val="800"/>
              </a:spcAft>
              <a:defRPr sz="1050" b="1">
                <a:solidFill>
                  <a:srgbClr val="5F5F5F"/>
                </a:solidFill>
                <a:latin typeface="Calibri"/>
              </a:defRPr>
            </a:pPr>
            <a:r>
              <a:t>PROJECT PRESENTATION TEAM &amp; PRACTICAL ALIGNMENT:</a:t>
            </a:r>
          </a:p>
          <a:p>
            <a:pPr>
              <a:spcAft>
                <a:spcPts val="500"/>
              </a:spcAft>
            </a:pPr>
            <a:r>
              <a:rPr b="1" sz="1100">
                <a:solidFill>
                  <a:srgbClr val="000000"/>
                </a:solidFill>
              </a:rPr>
              <a:t>- Speaker 1 (Team Lead):  </a:t>
            </a:r>
            <a:r>
              <a:rPr sz="1100">
                <a:solidFill>
                  <a:srgbClr val="1E1E1E"/>
                </a:solidFill>
              </a:rPr>
              <a:t>Executive Overview, Retail Problem Statement &amp; Decoupled Three-Tier Architecture</a:t>
            </a:r>
          </a:p>
          <a:p>
            <a:pPr>
              <a:spcAft>
                <a:spcPts val="500"/>
              </a:spcAft>
            </a:pPr>
            <a:r>
              <a:rPr b="1" sz="1100">
                <a:solidFill>
                  <a:srgbClr val="000000"/>
                </a:solidFill>
              </a:rPr>
              <a:t>- Speaker 2 (Data Engineering):  </a:t>
            </a:r>
            <a:r>
              <a:rPr sz="1100">
                <a:solidFill>
                  <a:srgbClr val="1E1E1E"/>
                </a:solidFill>
              </a:rPr>
              <a:t>Multi-Format Ingestion, Cleaning Audits, ECB Currency API &amp; Relational Database ETL (Labs 1, 2, 4, 5)</a:t>
            </a:r>
          </a:p>
          <a:p>
            <a:pPr>
              <a:spcAft>
                <a:spcPts val="500"/>
              </a:spcAft>
            </a:pPr>
            <a:r>
              <a:rPr b="1" sz="1100">
                <a:solidFill>
                  <a:srgbClr val="000000"/>
                </a:solidFill>
              </a:rPr>
              <a:t>- Speaker 3 (Machine Learning &amp; Stats):  </a:t>
            </a:r>
            <a:r>
              <a:rPr sz="1100">
                <a:solidFill>
                  <a:srgbClr val="1E1E1E"/>
                </a:solidFill>
              </a:rPr>
              <a:t>RFM Feature Engineering, Leakage-Free CLV Regression &amp; Time-Series ARIMA Forecasting (Labs 0, 3, 6)</a:t>
            </a:r>
          </a:p>
          <a:p>
            <a:pPr>
              <a:spcAft>
                <a:spcPts val="500"/>
              </a:spcAft>
            </a:pPr>
            <a:r>
              <a:rPr b="1" sz="1100">
                <a:solidFill>
                  <a:srgbClr val="000000"/>
                </a:solidFill>
              </a:rPr>
              <a:t>- Speaker 4 (Visualization &amp; Product):  </a:t>
            </a:r>
            <a:r>
              <a:rPr sz="1100">
                <a:solidFill>
                  <a:srgbClr val="1E1E1E"/>
                </a:solidFill>
              </a:rPr>
              <a:t>Interactive Visual Toolkit, Distribution Analytics, Production UI Walkthrough &amp; Business ROI (Labs 7,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300"/>
              </a:spcAft>
              <a:defRPr sz="950" b="1">
                <a:solidFill>
                  <a:srgbClr val="5F5F5F"/>
                </a:solidFill>
                <a:latin typeface="Calibri"/>
              </a:defRPr>
            </a:pPr>
            <a:r>
              <a:t>SPEAKER 1 | PROBLEM STATEMENT &amp; ARCHITECTURE</a:t>
            </a:r>
          </a:p>
          <a:p>
            <a:pPr>
              <a:spcAft>
                <a:spcPts val="0"/>
              </a:spcAft>
              <a:defRPr sz="2200" b="1">
                <a:solidFill>
                  <a:srgbClr val="000000"/>
                </a:solidFill>
                <a:latin typeface="Calibri"/>
              </a:defRPr>
            </a:pPr>
            <a:r>
              <a:t>The Retail Analytics Dilemma &amp; OmniRetail Architecture</a:t>
            </a:r>
          </a:p>
        </p:txBody>
      </p:sp>
      <p:sp>
        <p:nvSpPr>
          <p:cNvPr id="3" name="TextBox 2"/>
          <p:cNvSpPr txBox="1"/>
          <p:nvPr/>
        </p:nvSpPr>
        <p:spPr>
          <a:xfrm>
            <a:off x="731520" y="1645920"/>
            <a:ext cx="6217920" cy="4754880"/>
          </a:xfrm>
          <a:prstGeom prst="rect">
            <a:avLst/>
          </a:prstGeom>
          <a:noFill/>
        </p:spPr>
        <p:txBody>
          <a:bodyPr wrap="square" lIns="0" tIns="0" rIns="0" bIns="0">
            <a:spAutoFit/>
          </a:bodyPr>
          <a:lstStyle/>
          <a:p/>
          <a:p>
            <a:pPr>
              <a:spcAft>
                <a:spcPts val="1200"/>
              </a:spcAft>
            </a:pPr>
            <a:r>
              <a:rPr sz="1150" b="1">
                <a:solidFill>
                  <a:srgbClr val="000000"/>
                </a:solidFill>
                <a:latin typeface="Calibri"/>
              </a:rPr>
              <a:t>The Commercial Analytics Bottleneck:  </a:t>
            </a:r>
            <a:r>
              <a:rPr sz="1150" b="0">
                <a:solidFill>
                  <a:srgbClr val="1E1E1E"/>
                </a:solidFill>
                <a:latin typeface="Calibri"/>
              </a:rPr>
              <a:t>Commercial retailers generate vast transactional data across disparate POS systems, e-commerce stores, and partner channels. Organizations face fragmented schemas, slow spreadsheet updates, and lack predictive models for demand forecasting and customer attrition.</a:t>
            </a:r>
          </a:p>
          <a:p>
            <a:pPr>
              <a:spcAft>
                <a:spcPts val="1200"/>
              </a:spcAft>
            </a:pPr>
            <a:r>
              <a:rPr sz="1150" b="1">
                <a:solidFill>
                  <a:srgbClr val="000000"/>
                </a:solidFill>
                <a:latin typeface="Calibri"/>
              </a:rPr>
              <a:t>Decoupled Three-Tier Architecture:  </a:t>
            </a:r>
            <a:r>
              <a:rPr sz="1150" b="0">
                <a:solidFill>
                  <a:srgbClr val="1E1E1E"/>
                </a:solidFill>
                <a:latin typeface="Calibri"/>
              </a:rPr>
              <a:t>Engineered with a high-performance React 19 + TypeScript frontend for reactive client updates, a FastAPI backend serving asynchronous analytical endpoints, and an embedded local persistence layer eliminating expensive cloud database dependencies.</a:t>
            </a:r>
          </a:p>
          <a:p>
            <a:pPr>
              <a:spcAft>
                <a:spcPts val="1200"/>
              </a:spcAft>
            </a:pPr>
            <a:r>
              <a:rPr sz="1150" b="1">
                <a:solidFill>
                  <a:srgbClr val="000000"/>
                </a:solidFill>
                <a:latin typeface="Calibri"/>
              </a:rPr>
              <a:t>Hybrid Relational &amp; Columnar Storage:  </a:t>
            </a:r>
            <a:r>
              <a:rPr sz="1150" b="0">
                <a:solidFill>
                  <a:srgbClr val="1E1E1E"/>
                </a:solidFill>
                <a:latin typeface="Calibri"/>
              </a:rPr>
              <a:t>Combines an indexed SQLite database for sub-second relational queries with Apache Parquet files for high-throughput vectorized operations, processing over 530,000 transactions with under 20ms API latency.</a:t>
            </a:r>
          </a:p>
          <a:p>
            <a:pPr>
              <a:spcAft>
                <a:spcPts val="1200"/>
              </a:spcAft>
            </a:pPr>
            <a:r>
              <a:rPr sz="1150" b="1">
                <a:solidFill>
                  <a:srgbClr val="000000"/>
                </a:solidFill>
                <a:latin typeface="Calibri"/>
              </a:rPr>
              <a:t>Coursework Synthesis (Labs 0-8):  </a:t>
            </a:r>
            <a:r>
              <a:rPr sz="1150" b="0">
                <a:solidFill>
                  <a:srgbClr val="1E1E1E"/>
                </a:solidFill>
                <a:latin typeface="Calibri"/>
              </a:rPr>
              <a:t>Instead of keeping practical assignments in isolated files, OmniRetail integrates data ingestion, cleaning, currency API extraction, relational ETL, ML regression, ARIMA forecasting, and visual analysis into a single platform.</a:t>
            </a:r>
          </a:p>
        </p:txBody>
      </p:sp>
      <p:pic>
        <p:nvPicPr>
          <p:cNvPr id="4" name="Picture 3" descr="overview-desktop.png"/>
          <p:cNvPicPr>
            <a:picLocks noChangeAspect="1"/>
          </p:cNvPicPr>
          <p:nvPr/>
        </p:nvPicPr>
        <p:blipFill>
          <a:blip r:embed="rId2"/>
          <a:stretch>
            <a:fillRect/>
          </a:stretch>
        </p:blipFill>
        <p:spPr>
          <a:xfrm>
            <a:off x="7231278" y="1645920"/>
            <a:ext cx="4191202" cy="4389120"/>
          </a:xfrm>
          <a:prstGeom prst="rect">
            <a:avLst/>
          </a:prstGeom>
        </p:spPr>
      </p:pic>
      <p:sp>
        <p:nvSpPr>
          <p:cNvPr id="5" name="TextBox 4"/>
          <p:cNvSpPr txBox="1"/>
          <p:nvPr/>
        </p:nvSpPr>
        <p:spPr>
          <a:xfrm>
            <a:off x="7231278" y="6126479"/>
            <a:ext cx="4191202" cy="365760"/>
          </a:xfrm>
          <a:prstGeom prst="rect">
            <a:avLst/>
          </a:prstGeom>
          <a:noFill/>
        </p:spPr>
        <p:txBody>
          <a:bodyPr wrap="square" lIns="0" tIns="0" rIns="0" bIns="0">
            <a:spAutoFit/>
          </a:bodyPr>
          <a:lstStyle/>
          <a:p>
            <a:pPr>
              <a:defRPr sz="950">
                <a:solidFill>
                  <a:srgbClr val="5F5F5F"/>
                </a:solidFill>
                <a:latin typeface="Calibri"/>
              </a:defRPr>
            </a:pPr>
            <a:r>
              <a:t>Figure 1: Production Overview Dashboard with real-time KPIs and trendlines.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300"/>
              </a:spcAft>
              <a:defRPr sz="950" b="1">
                <a:solidFill>
                  <a:srgbClr val="5F5F5F"/>
                </a:solidFill>
                <a:latin typeface="Calibri"/>
              </a:defRPr>
            </a:pPr>
            <a:r>
              <a:t>SPEAKER 2 | DATA ENGINEERING | PRACTICALS 1 &amp; 2</a:t>
            </a:r>
          </a:p>
          <a:p>
            <a:pPr>
              <a:spcAft>
                <a:spcPts val="0"/>
              </a:spcAft>
              <a:defRPr sz="2200" b="1">
                <a:solidFill>
                  <a:srgbClr val="000000"/>
                </a:solidFill>
                <a:latin typeface="Calibri"/>
              </a:defRPr>
            </a:pPr>
            <a:r>
              <a:t>Multi-Format Ingestion Engine &amp; Audited Cleaning Pipeline</a:t>
            </a:r>
          </a:p>
        </p:txBody>
      </p:sp>
      <p:sp>
        <p:nvSpPr>
          <p:cNvPr id="3" name="TextBox 2"/>
          <p:cNvSpPr txBox="1"/>
          <p:nvPr/>
        </p:nvSpPr>
        <p:spPr>
          <a:xfrm>
            <a:off x="731520" y="1645920"/>
            <a:ext cx="10728655" cy="4754880"/>
          </a:xfrm>
          <a:prstGeom prst="rect">
            <a:avLst/>
          </a:prstGeom>
          <a:noFill/>
        </p:spPr>
        <p:txBody>
          <a:bodyPr wrap="square" lIns="0" tIns="0" rIns="0" bIns="0">
            <a:spAutoFit/>
          </a:bodyPr>
          <a:lstStyle/>
          <a:p/>
          <a:p>
            <a:pPr>
              <a:spcAft>
                <a:spcPts val="1400"/>
              </a:spcAft>
            </a:pPr>
            <a:r>
              <a:rPr sz="1200" b="1">
                <a:solidFill>
                  <a:srgbClr val="000000"/>
                </a:solidFill>
                <a:latin typeface="Calibri"/>
              </a:rPr>
              <a:t>Multi-Format Ingestion Boundary (Lab 1):  </a:t>
            </a:r>
            <a:r>
              <a:rPr sz="1200" b="0">
                <a:solidFill>
                  <a:srgbClr val="1E1E1E"/>
                </a:solidFill>
                <a:latin typeface="Calibri"/>
              </a:rPr>
              <a:t>Commercial data arrives in multiple structures. The ingestion service in backend/ingestion.py automatically parses CSV, TXT, XLSX, JSON, and XML formats into a standardized schema. Uses defusedxml to block XML entity expansion vulnerabilities and enforces strict validation on column types, finite positive prices, nonzero quantities, and ISO-8601 timestamps.</a:t>
            </a:r>
          </a:p>
          <a:p>
            <a:pPr>
              <a:spcAft>
                <a:spcPts val="1400"/>
              </a:spcAft>
            </a:pPr>
            <a:r>
              <a:rPr sz="1200" b="1">
                <a:solidFill>
                  <a:srgbClr val="000000"/>
                </a:solidFill>
                <a:latin typeface="Calibri"/>
              </a:rPr>
              <a:t>Deterministic Data Cleaning &amp; Audit Trail (Lab 2):  </a:t>
            </a:r>
            <a:r>
              <a:rPr sz="1200" b="0">
                <a:solidFill>
                  <a:srgbClr val="1E1E1E"/>
                </a:solidFill>
                <a:latin typeface="Calibri"/>
              </a:rPr>
              <a:t>From the raw 541,909 UCI records, the cleaning engine produces 531,441 valid commercial rows. It identifies and removes 5,258 duplicate rows and 2,693 administrative fee entries (such as manual postage fees and bank charges), logging every step in an immutable audit ledger.</a:t>
            </a:r>
          </a:p>
          <a:p>
            <a:pPr>
              <a:spcAft>
                <a:spcPts val="1400"/>
              </a:spcAft>
            </a:pPr>
            <a:r>
              <a:rPr sz="1200" b="1">
                <a:solidFill>
                  <a:srgbClr val="000000"/>
                </a:solidFill>
                <a:latin typeface="Calibri"/>
              </a:rPr>
              <a:t>Guest Preservation &amp; Cancellation Integrity (Lab 2):  </a:t>
            </a:r>
            <a:r>
              <a:rPr sz="1200" b="0">
                <a:solidFill>
                  <a:srgbClr val="1E1E1E"/>
                </a:solidFill>
                <a:latin typeface="Calibri"/>
              </a:rPr>
              <a:t>Unlike naive scripts that discard rows with missing IDs, OmniRetail preserves 131,651 guest transactions for accurate macro revenue and sales volume, while isolating registered IDs for customer loyalty models. Returns (8,730 invoice records with 'C' prefix) have their refund signs mathematically normalized to prevent signed negative distortion.</a:t>
            </a:r>
          </a:p>
          <a:p>
            <a:pPr>
              <a:spcAft>
                <a:spcPts val="1400"/>
              </a:spcAft>
            </a:pPr>
            <a:r>
              <a:rPr sz="1200" b="1">
                <a:solidFill>
                  <a:srgbClr val="000000"/>
                </a:solidFill>
                <a:latin typeface="Calibri"/>
              </a:rPr>
              <a:t>Native Multi-Sheet Excel Reporting (Lab 2):  </a:t>
            </a:r>
            <a:r>
              <a:rPr sz="1200" b="0">
                <a:solidFill>
                  <a:srgbClr val="1E1E1E"/>
                </a:solidFill>
                <a:latin typeface="Calibri"/>
              </a:rPr>
              <a:t>Builds upon practical Excel requirements by utilizing openpyxl to generate automated executive workbooks. Reports feature styled headers, auto-filters, freeze panes, and native Excel chart objects rather than static image embeds.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300"/>
              </a:spcAft>
              <a:defRPr sz="950" b="1">
                <a:solidFill>
                  <a:srgbClr val="5F5F5F"/>
                </a:solidFill>
                <a:latin typeface="Calibri"/>
              </a:defRPr>
            </a:pPr>
            <a:r>
              <a:t>SPEAKER 2 | ETL SYSTEMS | PRACTICALS 4 &amp; 5</a:t>
            </a:r>
          </a:p>
          <a:p>
            <a:pPr>
              <a:spcAft>
                <a:spcPts val="0"/>
              </a:spcAft>
              <a:defRPr sz="2200" b="1">
                <a:solidFill>
                  <a:srgbClr val="000000"/>
                </a:solidFill>
                <a:latin typeface="Calibri"/>
              </a:defRPr>
            </a:pPr>
            <a:r>
              <a:t>Resilient API Extraction &amp; Transactional Relational Database ETL</a:t>
            </a:r>
          </a:p>
        </p:txBody>
      </p:sp>
      <p:sp>
        <p:nvSpPr>
          <p:cNvPr id="3" name="TextBox 2"/>
          <p:cNvSpPr txBox="1"/>
          <p:nvPr/>
        </p:nvSpPr>
        <p:spPr>
          <a:xfrm>
            <a:off x="731520" y="1645920"/>
            <a:ext cx="10728655" cy="4754880"/>
          </a:xfrm>
          <a:prstGeom prst="rect">
            <a:avLst/>
          </a:prstGeom>
          <a:noFill/>
        </p:spPr>
        <p:txBody>
          <a:bodyPr wrap="square" lIns="0" tIns="0" rIns="0" bIns="0">
            <a:spAutoFit/>
          </a:bodyPr>
          <a:lstStyle/>
          <a:p/>
          <a:p>
            <a:pPr>
              <a:spcAft>
                <a:spcPts val="1400"/>
              </a:spcAft>
            </a:pPr>
            <a:r>
              <a:rPr sz="1200" b="1">
                <a:solidFill>
                  <a:srgbClr val="000000"/>
                </a:solidFill>
                <a:latin typeface="Calibri"/>
              </a:rPr>
              <a:t>Real-Time &amp; Historical Currency API Pipeline (Lab 4):  </a:t>
            </a:r>
            <a:r>
              <a:rPr sz="1200" b="0">
                <a:solidFill>
                  <a:srgbClr val="1E1E1E"/>
                </a:solidFill>
                <a:latin typeface="Calibri"/>
              </a:rPr>
              <a:t>Transactions originate in British Pounds (GBP). The currency service in backend/currency.py connects to the Frankfurter / European Central Bank API to fetch real historical exchange rates pegged to the exact sales closing date (December 2011: GBP/USD ≈ 1.56, GBP/INR ≈ 81.2), enabling multi-currency executive valuation without arbitrary constant multipliers.</a:t>
            </a:r>
          </a:p>
          <a:p>
            <a:pPr>
              <a:spcAft>
                <a:spcPts val="1400"/>
              </a:spcAft>
            </a:pPr>
            <a:r>
              <a:rPr sz="1200" b="1">
                <a:solidFill>
                  <a:srgbClr val="000000"/>
                </a:solidFill>
                <a:latin typeface="Calibri"/>
              </a:rPr>
              <a:t>Network Resilience &amp; Offline Fallback (Lab 4):  </a:t>
            </a:r>
            <a:r>
              <a:rPr sz="1200" b="0">
                <a:solidFill>
                  <a:srgbClr val="1E1E1E"/>
                </a:solidFill>
                <a:latin typeface="Calibri"/>
              </a:rPr>
              <a:t>API calls feature explicit connection timeouts (10s), exponential backoff retries, and atomic JSON disk caching. If the external API service is unreachable or rate-limited, the system falls back to cached rates, logging warning diagnostics without crashing active sessions.</a:t>
            </a:r>
          </a:p>
          <a:p>
            <a:pPr>
              <a:spcAft>
                <a:spcPts val="1400"/>
              </a:spcAft>
            </a:pPr>
            <a:r>
              <a:rPr sz="1200" b="1">
                <a:solidFill>
                  <a:srgbClr val="000000"/>
                </a:solidFill>
                <a:latin typeface="Calibri"/>
              </a:rPr>
              <a:t>Relational Schema Architecture with SQLAlchemy (Lab 5):  </a:t>
            </a:r>
            <a:r>
              <a:rPr sz="1200" b="0">
                <a:solidFill>
                  <a:srgbClr val="1E1E1E"/>
                </a:solidFill>
                <a:latin typeface="Calibri"/>
              </a:rPr>
              <a:t>Constructs an automated relational ETL pipeline loading cleaned data into SQLite (omni_retail.db). Builds indexed tables for transactions, unique registered customers, and daily aggregated sales with composite indexes on InvoiceDate, Country, and CustomerID.</a:t>
            </a:r>
          </a:p>
          <a:p>
            <a:pPr>
              <a:spcAft>
                <a:spcPts val="1400"/>
              </a:spcAft>
            </a:pPr>
            <a:r>
              <a:rPr sz="1200" b="1">
                <a:solidFill>
                  <a:srgbClr val="000000"/>
                </a:solidFill>
                <a:latin typeface="Calibri"/>
              </a:rPr>
              <a:t>Immutable Snapshot Versioning &amp; Safe Pointer Swapping (Lab 5):  </a:t>
            </a:r>
            <a:r>
              <a:rPr sz="1200" b="0">
                <a:solidFill>
                  <a:srgbClr val="1E1E1E"/>
                </a:solidFill>
                <a:latin typeface="Calibri"/>
              </a:rPr>
              <a:t>Imports write complete isolated snapshot directories before atomically updating current.json. Readers with open queries finish uninterrupted, and failed imports preserve existing datasets without partial-write corruption.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300"/>
              </a:spcAft>
              <a:defRPr sz="950" b="1">
                <a:solidFill>
                  <a:srgbClr val="5F5F5F"/>
                </a:solidFill>
                <a:latin typeface="Calibri"/>
              </a:defRPr>
            </a:pPr>
            <a:r>
              <a:t>SPEAKER 3 | MACHINE LEARNING | PRACTICALS 0 &amp; 3</a:t>
            </a:r>
          </a:p>
          <a:p>
            <a:pPr>
              <a:spcAft>
                <a:spcPts val="0"/>
              </a:spcAft>
              <a:defRPr sz="2200" b="1">
                <a:solidFill>
                  <a:srgbClr val="000000"/>
                </a:solidFill>
                <a:latin typeface="Calibri"/>
              </a:defRPr>
            </a:pPr>
            <a:r>
              <a:t>RFM Feature Engineering &amp; Leakage-Free CLV Predictive Modeling</a:t>
            </a:r>
          </a:p>
        </p:txBody>
      </p:sp>
      <p:sp>
        <p:nvSpPr>
          <p:cNvPr id="3" name="TextBox 2"/>
          <p:cNvSpPr txBox="1"/>
          <p:nvPr/>
        </p:nvSpPr>
        <p:spPr>
          <a:xfrm>
            <a:off x="731520" y="1645920"/>
            <a:ext cx="6217920" cy="4754880"/>
          </a:xfrm>
          <a:prstGeom prst="rect">
            <a:avLst/>
          </a:prstGeom>
          <a:noFill/>
        </p:spPr>
        <p:txBody>
          <a:bodyPr wrap="square" lIns="0" tIns="0" rIns="0" bIns="0">
            <a:spAutoFit/>
          </a:bodyPr>
          <a:lstStyle/>
          <a:p/>
          <a:p>
            <a:pPr>
              <a:spcAft>
                <a:spcPts val="1200"/>
              </a:spcAft>
            </a:pPr>
            <a:r>
              <a:rPr sz="1150" b="1">
                <a:solidFill>
                  <a:srgbClr val="000000"/>
                </a:solidFill>
                <a:latin typeface="Calibri"/>
              </a:rPr>
              <a:t>Vectorized RFM Feature Engineering (Lab 0):  </a:t>
            </a:r>
            <a:r>
              <a:rPr sz="1150" b="0">
                <a:solidFill>
                  <a:srgbClr val="1E1E1E"/>
                </a:solidFill>
                <a:latin typeface="Calibri"/>
              </a:rPr>
              <a:t>Built on NumPy and Pandas vectorized operations, the feature pipeline computes Recency (days since last purchase), Frequency (distinct completed orders), and Monetary Value (total net spend) across 4,363 distinct registered customers in milliseconds.</a:t>
            </a:r>
          </a:p>
          <a:p>
            <a:pPr>
              <a:spcAft>
                <a:spcPts val="1200"/>
              </a:spcAft>
            </a:pPr>
            <a:r>
              <a:rPr sz="1150" b="1">
                <a:solidFill>
                  <a:srgbClr val="000000"/>
                </a:solidFill>
                <a:latin typeface="Calibri"/>
              </a:rPr>
              <a:t>Leakage-Free Predictive Split (Lab 3):  </a:t>
            </a:r>
            <a:r>
              <a:rPr sz="1150" b="0">
                <a:solidFill>
                  <a:srgbClr val="1E1E1E"/>
                </a:solidFill>
                <a:latin typeface="Calibri"/>
              </a:rPr>
              <a:t>Avoids target leakage by partitioning history at a 90-day cutoff date. Models train strictly on customer features prior to the cutoff to predict actual forward spending during the subsequent 90-day horizon, delivering genuine predictive power.</a:t>
            </a:r>
          </a:p>
          <a:p>
            <a:pPr>
              <a:spcAft>
                <a:spcPts val="1200"/>
              </a:spcAft>
            </a:pPr>
            <a:r>
              <a:rPr sz="1150" b="1">
                <a:solidFill>
                  <a:srgbClr val="000000"/>
                </a:solidFill>
                <a:latin typeface="Calibri"/>
              </a:rPr>
              <a:t>Rigorous Scaling &amp; Supervised Regression (Lab 3):  </a:t>
            </a:r>
            <a:r>
              <a:rPr sz="1150" b="0">
                <a:solidFill>
                  <a:srgbClr val="1E1E1E"/>
                </a:solidFill>
                <a:latin typeface="Calibri"/>
              </a:rPr>
              <a:t>Applies scikit-learn StandardScaler fitted strictly on training data splits. Evaluates Linear vs. Ridge Regression against a baseline median heuristic. Wholesale buyers are retained in evaluation, reporting transparent metrics without artificial filtering.</a:t>
            </a:r>
          </a:p>
          <a:p>
            <a:pPr>
              <a:spcAft>
                <a:spcPts val="1200"/>
              </a:spcAft>
            </a:pPr>
            <a:r>
              <a:rPr sz="1150" b="1">
                <a:solidFill>
                  <a:srgbClr val="000000"/>
                </a:solidFill>
                <a:latin typeface="Calibri"/>
              </a:rPr>
              <a:t>High-Value Customer Tier Classification (Lab 3):  </a:t>
            </a:r>
            <a:r>
              <a:rPr sz="1150" b="0">
                <a:solidFill>
                  <a:srgbClr val="1E1E1E"/>
                </a:solidFill>
                <a:latin typeface="Calibri"/>
              </a:rPr>
              <a:t>Trains a probabilistic classification model predicting the likelihood that a customer reaches the top 20% revenue tier, enabling marketing teams to deploy targeted retention interventions.</a:t>
            </a:r>
          </a:p>
        </p:txBody>
      </p:sp>
      <p:pic>
        <p:nvPicPr>
          <p:cNvPr id="4" name="Picture 3" descr="customers-desktop.png"/>
          <p:cNvPicPr>
            <a:picLocks noChangeAspect="1"/>
          </p:cNvPicPr>
          <p:nvPr/>
        </p:nvPicPr>
        <p:blipFill>
          <a:blip r:embed="rId2"/>
          <a:stretch>
            <a:fillRect/>
          </a:stretch>
        </p:blipFill>
        <p:spPr>
          <a:xfrm>
            <a:off x="7733250" y="1645920"/>
            <a:ext cx="3187258" cy="4389120"/>
          </a:xfrm>
          <a:prstGeom prst="rect">
            <a:avLst/>
          </a:prstGeom>
        </p:spPr>
      </p:pic>
      <p:sp>
        <p:nvSpPr>
          <p:cNvPr id="5" name="TextBox 4"/>
          <p:cNvSpPr txBox="1"/>
          <p:nvPr/>
        </p:nvSpPr>
        <p:spPr>
          <a:xfrm>
            <a:off x="7733250" y="6126479"/>
            <a:ext cx="3187258" cy="365760"/>
          </a:xfrm>
          <a:prstGeom prst="rect">
            <a:avLst/>
          </a:prstGeom>
          <a:noFill/>
        </p:spPr>
        <p:txBody>
          <a:bodyPr wrap="square" lIns="0" tIns="0" rIns="0" bIns="0">
            <a:spAutoFit/>
          </a:bodyPr>
          <a:lstStyle/>
          <a:p>
            <a:pPr>
              <a:defRPr sz="950">
                <a:solidFill>
                  <a:srgbClr val="5F5F5F"/>
                </a:solidFill>
                <a:latin typeface="Calibri"/>
              </a:defRPr>
            </a:pPr>
            <a:r>
              <a:t>Figure 2: Customer Segmentation view with RFM scores and forward spend predictions.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300"/>
              </a:spcAft>
              <a:defRPr sz="950" b="1">
                <a:solidFill>
                  <a:srgbClr val="5F5F5F"/>
                </a:solidFill>
                <a:latin typeface="Calibri"/>
              </a:defRPr>
            </a:pPr>
            <a:r>
              <a:t>SPEAKER 3 | PREDICTIVE MODELING | PRACTICAL 6</a:t>
            </a:r>
          </a:p>
          <a:p>
            <a:pPr>
              <a:spcAft>
                <a:spcPts val="0"/>
              </a:spcAft>
              <a:defRPr sz="2200" b="1">
                <a:solidFill>
                  <a:srgbClr val="000000"/>
                </a:solidFill>
                <a:latin typeface="Calibri"/>
              </a:defRPr>
            </a:pPr>
            <a:r>
              <a:t>Continuous Time-Series Smoothing &amp; ARIMA Demand Forecasting</a:t>
            </a:r>
          </a:p>
        </p:txBody>
      </p:sp>
      <p:sp>
        <p:nvSpPr>
          <p:cNvPr id="3" name="TextBox 2"/>
          <p:cNvSpPr txBox="1"/>
          <p:nvPr/>
        </p:nvSpPr>
        <p:spPr>
          <a:xfrm>
            <a:off x="731520" y="1645920"/>
            <a:ext cx="6217920" cy="4754880"/>
          </a:xfrm>
          <a:prstGeom prst="rect">
            <a:avLst/>
          </a:prstGeom>
          <a:noFill/>
        </p:spPr>
        <p:txBody>
          <a:bodyPr wrap="square" lIns="0" tIns="0" rIns="0" bIns="0">
            <a:spAutoFit/>
          </a:bodyPr>
          <a:lstStyle/>
          <a:p/>
          <a:p>
            <a:pPr>
              <a:spcAft>
                <a:spcPts val="1200"/>
              </a:spcAft>
            </a:pPr>
            <a:r>
              <a:rPr sz="1150" b="1">
                <a:solidFill>
                  <a:srgbClr val="000000"/>
                </a:solidFill>
                <a:latin typeface="Calibri"/>
              </a:rPr>
              <a:t>Continuous Daily Time-Series (Lab 6):  </a:t>
            </a:r>
            <a:r>
              <a:rPr sz="1150" b="0">
                <a:solidFill>
                  <a:srgbClr val="1E1E1E"/>
                </a:solidFill>
                <a:latin typeface="Calibri"/>
              </a:rPr>
              <a:t>Resamples transactions into a contiguous daily sales calendar, zero-filling days with no sales. This ensures continuous chronological indexing necessary for statistical time-series decomposition.</a:t>
            </a:r>
          </a:p>
          <a:p>
            <a:pPr>
              <a:spcAft>
                <a:spcPts val="1200"/>
              </a:spcAft>
            </a:pPr>
            <a:r>
              <a:rPr sz="1150" b="1">
                <a:solidFill>
                  <a:srgbClr val="000000"/>
                </a:solidFill>
                <a:latin typeface="Calibri"/>
              </a:rPr>
              <a:t>Multi-Horizon Moving Averages (Lab 6):  </a:t>
            </a:r>
            <a:r>
              <a:rPr sz="1150" b="0">
                <a:solidFill>
                  <a:srgbClr val="1E1E1E"/>
                </a:solidFill>
                <a:latin typeface="Calibri"/>
              </a:rPr>
              <a:t>Calculates 7-day Simple Moving Averages (SMA-7) to filter weekly seasonality, 30-day moving averages (SMA-30) for monthly macro cycles, and 14-day Exponential Moving Averages (EMA-14) for fast momentum detection.</a:t>
            </a:r>
          </a:p>
          <a:p>
            <a:pPr>
              <a:spcAft>
                <a:spcPts val="1200"/>
              </a:spcAft>
            </a:pPr>
            <a:r>
              <a:rPr sz="1150" b="1">
                <a:solidFill>
                  <a:srgbClr val="000000"/>
                </a:solidFill>
                <a:latin typeface="Calibri"/>
              </a:rPr>
              <a:t>Stationarity Testing &amp; ARIMA(1,1,1) (Lab 6):  </a:t>
            </a:r>
            <a:r>
              <a:rPr sz="1150" b="0">
                <a:solidFill>
                  <a:srgbClr val="1E1E1E"/>
                </a:solidFill>
                <a:latin typeface="Calibri"/>
              </a:rPr>
              <a:t>Applies the Augmented Dickey-Fuller (ADF) test to evaluate series stationarity, takes first-order differencing, and fits an ARIMA(1,1,1) model forecasting sales demand across 7 to 90 days with bounded 95% confidence intervals.</a:t>
            </a:r>
          </a:p>
          <a:p>
            <a:pPr>
              <a:spcAft>
                <a:spcPts val="1200"/>
              </a:spcAft>
            </a:pPr>
            <a:r>
              <a:rPr sz="1150" b="1">
                <a:solidFill>
                  <a:srgbClr val="000000"/>
                </a:solidFill>
                <a:latin typeface="Calibri"/>
              </a:rPr>
              <a:t>Chronological Holdout Validation (Lab 6):  </a:t>
            </a:r>
            <a:r>
              <a:rPr sz="1150" b="0">
                <a:solidFill>
                  <a:srgbClr val="1E1E1E"/>
                </a:solidFill>
                <a:latin typeface="Calibri"/>
              </a:rPr>
              <a:t>Validates model performance on the final 15% chronological holdout. Transparently compares ARIMA against a seasonal repeating-week baseline, helping inventory planners make grounded procurement decisions.</a:t>
            </a:r>
          </a:p>
        </p:txBody>
      </p:sp>
      <p:pic>
        <p:nvPicPr>
          <p:cNvPr id="4" name="Picture 3" descr="forecast-desktop.png"/>
          <p:cNvPicPr>
            <a:picLocks noChangeAspect="1"/>
          </p:cNvPicPr>
          <p:nvPr/>
        </p:nvPicPr>
        <p:blipFill>
          <a:blip r:embed="rId2"/>
          <a:stretch>
            <a:fillRect/>
          </a:stretch>
        </p:blipFill>
        <p:spPr>
          <a:xfrm>
            <a:off x="7223760" y="1645920"/>
            <a:ext cx="4206240" cy="3823588"/>
          </a:xfrm>
          <a:prstGeom prst="rect">
            <a:avLst/>
          </a:prstGeom>
        </p:spPr>
      </p:pic>
      <p:sp>
        <p:nvSpPr>
          <p:cNvPr id="5" name="TextBox 4"/>
          <p:cNvSpPr txBox="1"/>
          <p:nvPr/>
        </p:nvSpPr>
        <p:spPr>
          <a:xfrm>
            <a:off x="7223760" y="5560948"/>
            <a:ext cx="4206240" cy="365760"/>
          </a:xfrm>
          <a:prstGeom prst="rect">
            <a:avLst/>
          </a:prstGeom>
          <a:noFill/>
        </p:spPr>
        <p:txBody>
          <a:bodyPr wrap="square" lIns="0" tIns="0" rIns="0" bIns="0">
            <a:spAutoFit/>
          </a:bodyPr>
          <a:lstStyle/>
          <a:p>
            <a:pPr>
              <a:defRPr sz="950">
                <a:solidFill>
                  <a:srgbClr val="5F5F5F"/>
                </a:solidFill>
                <a:latin typeface="Calibri"/>
              </a:defRPr>
            </a:pPr>
            <a:r>
              <a:t>Figure 3: Forecast Studio showing ARIMA projections with 95% confidence intervals.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300"/>
              </a:spcAft>
              <a:defRPr sz="950" b="1">
                <a:solidFill>
                  <a:srgbClr val="5F5F5F"/>
                </a:solidFill>
                <a:latin typeface="Calibri"/>
              </a:defRPr>
            </a:pPr>
            <a:r>
              <a:t>SPEAKER 4 | DATA VISUALIZATION | PRACTICAL 7</a:t>
            </a:r>
          </a:p>
          <a:p>
            <a:pPr>
              <a:spcAft>
                <a:spcPts val="0"/>
              </a:spcAft>
              <a:defRPr sz="2200" b="1">
                <a:solidFill>
                  <a:srgbClr val="000000"/>
                </a:solidFill>
                <a:latin typeface="Calibri"/>
              </a:defRPr>
            </a:pPr>
            <a:r>
              <a:t>Interactive Visual Toolkit: Regression Scatters &amp; Sales Trends</a:t>
            </a:r>
          </a:p>
        </p:txBody>
      </p:sp>
      <p:sp>
        <p:nvSpPr>
          <p:cNvPr id="3" name="TextBox 2"/>
          <p:cNvSpPr txBox="1"/>
          <p:nvPr/>
        </p:nvSpPr>
        <p:spPr>
          <a:xfrm>
            <a:off x="731520" y="1645920"/>
            <a:ext cx="5669280" cy="4754880"/>
          </a:xfrm>
          <a:prstGeom prst="rect">
            <a:avLst/>
          </a:prstGeom>
          <a:noFill/>
        </p:spPr>
        <p:txBody>
          <a:bodyPr wrap="square" lIns="0" tIns="0" rIns="0" bIns="0">
            <a:spAutoFit/>
          </a:bodyPr>
          <a:lstStyle/>
          <a:p/>
          <a:p>
            <a:pPr>
              <a:spcAft>
                <a:spcPts val="1200"/>
              </a:spcAft>
            </a:pPr>
            <a:r>
              <a:rPr sz="1150" b="1">
                <a:solidFill>
                  <a:srgbClr val="000000"/>
                </a:solidFill>
                <a:latin typeface="Calibri"/>
              </a:rPr>
              <a:t>Interactive Charting Canvas (Lab 7):  </a:t>
            </a:r>
            <a:r>
              <a:rPr sz="1150" b="0">
                <a:solidFill>
                  <a:srgbClr val="1E1E1E"/>
                </a:solidFill>
                <a:latin typeface="Calibri"/>
              </a:rPr>
              <a:t>Upgrades static academic charts to responsive, interactive SVG canvases via Recharts. Supports client-side filtering by market, currency, and date range without requiring page reloads.</a:t>
            </a:r>
          </a:p>
          <a:p>
            <a:pPr>
              <a:spcAft>
                <a:spcPts val="1200"/>
              </a:spcAft>
            </a:pPr>
            <a:r>
              <a:rPr sz="1150" b="1">
                <a:solidFill>
                  <a:srgbClr val="000000"/>
                </a:solidFill>
                <a:latin typeface="Calibri"/>
              </a:rPr>
              <a:t>Customer Behavioral Scatter Plots (Lab 7):  </a:t>
            </a:r>
            <a:r>
              <a:rPr sz="1150" b="0">
                <a:solidFill>
                  <a:srgbClr val="1E1E1E"/>
                </a:solidFill>
                <a:latin typeface="Calibri"/>
              </a:rPr>
              <a:t>Maps Average Order Value against Customer Recency and Frequency. Point dimensions scale proportionally with total customer monetary value, visually separating loyal champions from churn hazards.</a:t>
            </a:r>
          </a:p>
          <a:p>
            <a:pPr>
              <a:spcAft>
                <a:spcPts val="1200"/>
              </a:spcAft>
            </a:pPr>
            <a:r>
              <a:rPr sz="1150" b="1">
                <a:solidFill>
                  <a:srgbClr val="000000"/>
                </a:solidFill>
                <a:latin typeface="Calibri"/>
              </a:rPr>
              <a:t>Dynamic Trendline &amp; Smoothing Overlays (Lab 7):  </a:t>
            </a:r>
            <a:r>
              <a:rPr sz="1150" b="0">
                <a:solidFill>
                  <a:srgbClr val="1E1E1E"/>
                </a:solidFill>
                <a:latin typeface="Calibri"/>
              </a:rPr>
              <a:t>Allows operators to toggle between raw daily sales fluctuations, SMA-7 baseline curves, and linear trendlines to reveal seasonal patterns without confusing day-to-day noise.</a:t>
            </a:r>
          </a:p>
          <a:p>
            <a:pPr>
              <a:spcAft>
                <a:spcPts val="1200"/>
              </a:spcAft>
            </a:pPr>
            <a:r>
              <a:rPr sz="1150" b="1">
                <a:solidFill>
                  <a:srgbClr val="000000"/>
                </a:solidFill>
                <a:latin typeface="Calibri"/>
              </a:rPr>
              <a:t>Static Publishing Toolkit Parity (Lab 7):  </a:t>
            </a:r>
            <a:r>
              <a:rPr sz="1150" b="0">
                <a:solidFill>
                  <a:srgbClr val="1E1E1E"/>
                </a:solidFill>
                <a:latin typeface="Calibri"/>
              </a:rPr>
              <a:t>Maintains a parallel Matplotlib and Seaborn visualization pipeline in src/visual_toolkit.py for high-resolution academic papers and automated report generation.</a:t>
            </a:r>
          </a:p>
        </p:txBody>
      </p:sp>
      <p:pic>
        <p:nvPicPr>
          <p:cNvPr id="4" name="Picture 3" descr="lab7_scatter_regression_segments.png"/>
          <p:cNvPicPr>
            <a:picLocks noChangeAspect="1"/>
          </p:cNvPicPr>
          <p:nvPr/>
        </p:nvPicPr>
        <p:blipFill>
          <a:blip r:embed="rId2"/>
          <a:stretch>
            <a:fillRect/>
          </a:stretch>
        </p:blipFill>
        <p:spPr>
          <a:xfrm>
            <a:off x="6675120" y="1645920"/>
            <a:ext cx="4754880" cy="2852928"/>
          </a:xfrm>
          <a:prstGeom prst="rect">
            <a:avLst/>
          </a:prstGeom>
        </p:spPr>
      </p:pic>
      <p:sp>
        <p:nvSpPr>
          <p:cNvPr id="5" name="TextBox 4"/>
          <p:cNvSpPr txBox="1"/>
          <p:nvPr/>
        </p:nvSpPr>
        <p:spPr>
          <a:xfrm>
            <a:off x="6675120" y="4590288"/>
            <a:ext cx="4754880" cy="365760"/>
          </a:xfrm>
          <a:prstGeom prst="rect">
            <a:avLst/>
          </a:prstGeom>
          <a:noFill/>
        </p:spPr>
        <p:txBody>
          <a:bodyPr wrap="square" lIns="0" tIns="0" rIns="0" bIns="0">
            <a:spAutoFit/>
          </a:bodyPr>
          <a:lstStyle/>
          <a:p>
            <a:pPr>
              <a:defRPr sz="950">
                <a:solidFill>
                  <a:srgbClr val="5F5F5F"/>
                </a:solidFill>
                <a:latin typeface="Calibri"/>
              </a:defRPr>
            </a:pPr>
            <a:r>
              <a:t>Figure 4: Customer RFM Scatter with regression trendlines and segment classifications.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300"/>
              </a:spcAft>
              <a:defRPr sz="950" b="1">
                <a:solidFill>
                  <a:srgbClr val="5F5F5F"/>
                </a:solidFill>
                <a:latin typeface="Calibri"/>
              </a:defRPr>
            </a:pPr>
            <a:r>
              <a:t>SPEAKER 4 | EXPLORATORY ANALYTICS | PRACTICAL 8</a:t>
            </a:r>
          </a:p>
          <a:p>
            <a:pPr>
              <a:spcAft>
                <a:spcPts val="0"/>
              </a:spcAft>
              <a:defRPr sz="2200" b="1">
                <a:solidFill>
                  <a:srgbClr val="000000"/>
                </a:solidFill>
                <a:latin typeface="Calibri"/>
              </a:defRPr>
            </a:pPr>
            <a:r>
              <a:t>Categorical Distributions &amp; Rigorous Outlier Handling</a:t>
            </a:r>
          </a:p>
        </p:txBody>
      </p:sp>
      <p:sp>
        <p:nvSpPr>
          <p:cNvPr id="3" name="TextBox 2"/>
          <p:cNvSpPr txBox="1"/>
          <p:nvPr/>
        </p:nvSpPr>
        <p:spPr>
          <a:xfrm>
            <a:off x="731520" y="1645920"/>
            <a:ext cx="5669280" cy="4754880"/>
          </a:xfrm>
          <a:prstGeom prst="rect">
            <a:avLst/>
          </a:prstGeom>
          <a:noFill/>
        </p:spPr>
        <p:txBody>
          <a:bodyPr wrap="square" lIns="0" tIns="0" rIns="0" bIns="0">
            <a:spAutoFit/>
          </a:bodyPr>
          <a:lstStyle/>
          <a:p/>
          <a:p>
            <a:pPr>
              <a:spcAft>
                <a:spcPts val="1200"/>
              </a:spcAft>
            </a:pPr>
            <a:r>
              <a:rPr sz="1150" b="1">
                <a:solidFill>
                  <a:srgbClr val="000000"/>
                </a:solidFill>
                <a:latin typeface="Calibri"/>
              </a:rPr>
              <a:t>Statistical Distribution Modeling (Lab 8):  </a:t>
            </a:r>
            <a:r>
              <a:rPr sz="1150" b="0">
                <a:solidFill>
                  <a:srgbClr val="1E1E1E"/>
                </a:solidFill>
                <a:latin typeface="Calibri"/>
              </a:rPr>
              <a:t>Renders order quantity and spend histograms alongside Kernel Density Estimations (KDE) to accurately illustrate heavily right-skewed commercial transaction behaviors.</a:t>
            </a:r>
          </a:p>
          <a:p>
            <a:pPr>
              <a:spcAft>
                <a:spcPts val="1200"/>
              </a:spcAft>
            </a:pPr>
            <a:r>
              <a:rPr sz="1150" b="1">
                <a:solidFill>
                  <a:srgbClr val="000000"/>
                </a:solidFill>
                <a:latin typeface="Calibri"/>
              </a:rPr>
              <a:t>IQR Outlier Auditing Across Markets (Lab 8):  </a:t>
            </a:r>
            <a:r>
              <a:rPr sz="1150" b="0">
                <a:solidFill>
                  <a:srgbClr val="1E1E1E"/>
                </a:solidFill>
                <a:latin typeface="Calibri"/>
              </a:rPr>
              <a:t>Constructs Interquartile Range (IQR) box-and-whisker plots across top international markets. Retains wholesale outliers in macro accounting while providing adjusted views for everyday customer cohorts.</a:t>
            </a:r>
          </a:p>
          <a:p>
            <a:pPr>
              <a:spcAft>
                <a:spcPts val="1200"/>
              </a:spcAft>
            </a:pPr>
            <a:r>
              <a:rPr sz="1150" b="1">
                <a:solidFill>
                  <a:srgbClr val="000000"/>
                </a:solidFill>
                <a:latin typeface="Calibri"/>
              </a:rPr>
              <a:t>Geographic Market Concentration (Lab 8):  </a:t>
            </a:r>
            <a:r>
              <a:rPr sz="1150" b="0">
                <a:solidFill>
                  <a:srgbClr val="1E1E1E"/>
                </a:solidFill>
                <a:latin typeface="Calibri"/>
              </a:rPr>
              <a:t>Donut and distribution charts depict market concentration—the UK represents 91.5% of transaction volume (486,323 lines), followed by Germany (9,080), France (8,220), and EIRE (8,167).</a:t>
            </a:r>
          </a:p>
          <a:p>
            <a:pPr>
              <a:spcAft>
                <a:spcPts val="1200"/>
              </a:spcAft>
            </a:pPr>
            <a:r>
              <a:rPr sz="1150" b="1">
                <a:solidFill>
                  <a:srgbClr val="000000"/>
                </a:solidFill>
                <a:latin typeface="Calibri"/>
              </a:rPr>
              <a:t>Multi-Tool Chart Parity (Lab 8):  </a:t>
            </a:r>
            <a:r>
              <a:rPr sz="1150" b="0">
                <a:solidFill>
                  <a:srgbClr val="1E1E1E"/>
                </a:solidFill>
                <a:latin typeface="Calibri"/>
              </a:rPr>
              <a:t>Cross-validates distribution metrics across React/Recharts, Plotly interactive widgets, Seaborn statistical figures, and native Excel workbooks, ensuring identical insights across reporting platforms.</a:t>
            </a:r>
          </a:p>
        </p:txBody>
      </p:sp>
      <p:pic>
        <p:nvPicPr>
          <p:cNvPr id="4" name="Picture 3" descr="lab8_distribution_boxplots.png"/>
          <p:cNvPicPr>
            <a:picLocks noChangeAspect="1"/>
          </p:cNvPicPr>
          <p:nvPr/>
        </p:nvPicPr>
        <p:blipFill>
          <a:blip r:embed="rId2"/>
          <a:stretch>
            <a:fillRect/>
          </a:stretch>
        </p:blipFill>
        <p:spPr>
          <a:xfrm>
            <a:off x="6675120" y="1828800"/>
            <a:ext cx="4754880" cy="1698171"/>
          </a:xfrm>
          <a:prstGeom prst="rect">
            <a:avLst/>
          </a:prstGeom>
        </p:spPr>
      </p:pic>
      <p:sp>
        <p:nvSpPr>
          <p:cNvPr id="5" name="TextBox 4"/>
          <p:cNvSpPr txBox="1"/>
          <p:nvPr/>
        </p:nvSpPr>
        <p:spPr>
          <a:xfrm>
            <a:off x="6675120" y="3618411"/>
            <a:ext cx="4754880" cy="365760"/>
          </a:xfrm>
          <a:prstGeom prst="rect">
            <a:avLst/>
          </a:prstGeom>
          <a:noFill/>
        </p:spPr>
        <p:txBody>
          <a:bodyPr wrap="square" lIns="0" tIns="0" rIns="0" bIns="0">
            <a:spAutoFit/>
          </a:bodyPr>
          <a:lstStyle/>
          <a:p>
            <a:pPr>
              <a:defRPr sz="950">
                <a:solidFill>
                  <a:srgbClr val="5F5F5F"/>
                </a:solidFill>
                <a:latin typeface="Calibri"/>
              </a:defRPr>
            </a:pPr>
            <a:r>
              <a:t>Figure 5: IQR-bounded Boxplots and Distribution Histograms across international markets.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300"/>
              </a:spcAft>
              <a:defRPr sz="950" b="1">
                <a:solidFill>
                  <a:srgbClr val="5F5F5F"/>
                </a:solidFill>
                <a:latin typeface="Calibri"/>
              </a:defRPr>
            </a:pPr>
            <a:r>
              <a:t>SPEAKER 4 | PLATFORM WALKTHROUGH | 5 CORE VIEWS</a:t>
            </a:r>
          </a:p>
          <a:p>
            <a:pPr>
              <a:spcAft>
                <a:spcPts val="0"/>
              </a:spcAft>
              <a:defRPr sz="2200" b="1">
                <a:solidFill>
                  <a:srgbClr val="000000"/>
                </a:solidFill>
                <a:latin typeface="Calibri"/>
              </a:defRPr>
            </a:pPr>
            <a:r>
              <a:t>OmniRetail Operational Modules &amp; Production Execution</a:t>
            </a:r>
          </a:p>
        </p:txBody>
      </p:sp>
      <p:sp>
        <p:nvSpPr>
          <p:cNvPr id="3" name="TextBox 2"/>
          <p:cNvSpPr txBox="1"/>
          <p:nvPr/>
        </p:nvSpPr>
        <p:spPr>
          <a:xfrm>
            <a:off x="731520" y="1645920"/>
            <a:ext cx="10728655" cy="4754880"/>
          </a:xfrm>
          <a:prstGeom prst="rect">
            <a:avLst/>
          </a:prstGeom>
          <a:noFill/>
        </p:spPr>
        <p:txBody>
          <a:bodyPr wrap="square" lIns="0" tIns="0" rIns="0" bIns="0">
            <a:spAutoFit/>
          </a:bodyPr>
          <a:lstStyle/>
          <a:p/>
          <a:p>
            <a:pPr>
              <a:spcAft>
                <a:spcPts val="1200"/>
              </a:spcAft>
            </a:pPr>
            <a:r>
              <a:rPr sz="1200" b="1">
                <a:solidFill>
                  <a:srgbClr val="000000"/>
                </a:solidFill>
                <a:latin typeface="Calibri"/>
              </a:rPr>
              <a:t>1. Executive Overview:  </a:t>
            </a:r>
            <a:r>
              <a:rPr sz="1200" b="0">
                <a:solidFill>
                  <a:srgbClr val="1E1E1E"/>
                </a:solidFill>
                <a:latin typeface="Calibri"/>
              </a:rPr>
              <a:t>Real-time operational dashboard tracking Gross Sales (£8.9M GBP), Total Orders (23,217), Active Customers (4,363), and Average Order Value, backed by interactive daily trendlines and country share distributions.</a:t>
            </a:r>
          </a:p>
          <a:p>
            <a:pPr>
              <a:spcAft>
                <a:spcPts val="1200"/>
              </a:spcAft>
            </a:pPr>
            <a:r>
              <a:rPr sz="1200" b="1">
                <a:solidFill>
                  <a:srgbClr val="000000"/>
                </a:solidFill>
                <a:latin typeface="Calibri"/>
              </a:rPr>
              <a:t>2. Customer Intelligence Explorer:  </a:t>
            </a:r>
            <a:r>
              <a:rPr sz="1200" b="0">
                <a:solidFill>
                  <a:srgbClr val="1E1E1E"/>
                </a:solidFill>
                <a:latin typeface="Calibri"/>
              </a:rPr>
              <a:t>Searchable, paginated customer registry with RFM scorecards, churn indicators, and predictive 90-day forward spend estimates, allowing account managers to prioritize retention outreach.</a:t>
            </a:r>
          </a:p>
          <a:p>
            <a:pPr>
              <a:spcAft>
                <a:spcPts val="1200"/>
              </a:spcAft>
            </a:pPr>
            <a:r>
              <a:rPr sz="1200" b="1">
                <a:solidFill>
                  <a:srgbClr val="000000"/>
                </a:solidFill>
                <a:latin typeface="Calibri"/>
              </a:rPr>
              <a:t>3. Forecast Studio:  </a:t>
            </a:r>
            <a:r>
              <a:rPr sz="1200" b="0">
                <a:solidFill>
                  <a:srgbClr val="1E1E1E"/>
                </a:solidFill>
                <a:latin typeface="Calibri"/>
              </a:rPr>
              <a:t>Interactive scenario planning tool allowing inventory managers to adjust forecast horizons from 7 to 90 days, inspect uncertainty intervals, and compare ARIMA against seasonal weekly baselines.</a:t>
            </a:r>
          </a:p>
          <a:p>
            <a:pPr>
              <a:spcAft>
                <a:spcPts val="1200"/>
              </a:spcAft>
            </a:pPr>
            <a:r>
              <a:rPr sz="1200" b="1">
                <a:solidFill>
                  <a:srgbClr val="000000"/>
                </a:solidFill>
                <a:latin typeface="Calibri"/>
              </a:rPr>
              <a:t>4. Exploratory Data Analysis &amp; 5. Data Hub:  </a:t>
            </a:r>
            <a:r>
              <a:rPr sz="1200" b="0">
                <a:solidFill>
                  <a:srgbClr val="1E1E1E"/>
                </a:solidFill>
                <a:latin typeface="Calibri"/>
              </a:rPr>
              <a:t>Provides dynamic Pearson/Spearman correlation heatmaps and distribution inspectors, alongside a drag-and-drop file ingestion portal with formula-injection guarded Excel exports.</a:t>
            </a:r>
          </a:p>
          <a:p>
            <a:pPr>
              <a:spcAft>
                <a:spcPts val="1200"/>
              </a:spcAft>
            </a:pPr>
            <a:r>
              <a:rPr sz="1200" b="1">
                <a:solidFill>
                  <a:srgbClr val="000000"/>
                </a:solidFill>
                <a:latin typeface="Calibri"/>
              </a:rPr>
              <a:t>Single-Command Production Startup:  </a:t>
            </a:r>
            <a:r>
              <a:rPr sz="1200" b="0">
                <a:solidFill>
                  <a:srgbClr val="1E1E1E"/>
                </a:solidFill>
                <a:latin typeface="Calibri"/>
              </a:rPr>
              <a:t>A single command ('python app.py') launches both the compiled React frontend and the FastAPI backend on port 8000, eliminating complicated multi-terminal setup requirements.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300"/>
              </a:spcAft>
              <a:defRPr sz="950" b="1">
                <a:solidFill>
                  <a:srgbClr val="5F5F5F"/>
                </a:solidFill>
                <a:latin typeface="Calibri"/>
              </a:defRPr>
            </a:pPr>
            <a:r>
              <a:t>TEAM SUMMARY | BUSINESS VALUE &amp; CONCLUSION</a:t>
            </a:r>
          </a:p>
          <a:p>
            <a:pPr>
              <a:spcAft>
                <a:spcPts val="0"/>
              </a:spcAft>
              <a:defRPr sz="2200" b="1">
                <a:solidFill>
                  <a:srgbClr val="000000"/>
                </a:solidFill>
                <a:latin typeface="Calibri"/>
              </a:defRPr>
            </a:pPr>
            <a:r>
              <a:t>Academic Synthesis, Commercial Impact &amp; Conclusion</a:t>
            </a:r>
          </a:p>
        </p:txBody>
      </p:sp>
      <p:sp>
        <p:nvSpPr>
          <p:cNvPr id="3" name="TextBox 2"/>
          <p:cNvSpPr txBox="1"/>
          <p:nvPr/>
        </p:nvSpPr>
        <p:spPr>
          <a:xfrm>
            <a:off x="731520" y="1645920"/>
            <a:ext cx="10728655" cy="4754880"/>
          </a:xfrm>
          <a:prstGeom prst="rect">
            <a:avLst/>
          </a:prstGeom>
          <a:noFill/>
        </p:spPr>
        <p:txBody>
          <a:bodyPr wrap="square" lIns="0" tIns="0" rIns="0" bIns="0">
            <a:spAutoFit/>
          </a:bodyPr>
          <a:lstStyle/>
          <a:p/>
          <a:p>
            <a:pPr>
              <a:spcAft>
                <a:spcPts val="1400"/>
              </a:spcAft>
            </a:pPr>
            <a:r>
              <a:rPr sz="1200" b="1">
                <a:solidFill>
                  <a:srgbClr val="000000"/>
                </a:solidFill>
                <a:latin typeface="Calibri"/>
              </a:rPr>
              <a:t>Full Practical Synthesis (Labs 0 through 8):  </a:t>
            </a:r>
            <a:r>
              <a:rPr sz="1200" b="0">
                <a:solidFill>
                  <a:srgbClr val="1E1E1E"/>
                </a:solidFill>
                <a:latin typeface="Calibri"/>
              </a:rPr>
              <a:t>OmniRetail synthesizes every syllabus concept: Python matrices (Lab 0), multi-format ingestion (Lab 1), data auditing &amp; cleaning (Lab 2), supervised regression modeling (Lab 3), live API extraction (Lab 4), relational database ETL (Lab 5), time-series ARIMA (Lab 6), visual trend analysis (Lab 7), and categorical distributions (Lab 8).</a:t>
            </a:r>
          </a:p>
          <a:p>
            <a:pPr>
              <a:spcAft>
                <a:spcPts val="1400"/>
              </a:spcAft>
            </a:pPr>
            <a:r>
              <a:rPr sz="1200" b="1">
                <a:solidFill>
                  <a:srgbClr val="000000"/>
                </a:solidFill>
                <a:latin typeface="Calibri"/>
              </a:rPr>
              <a:t>Tangible Commercial Return on Investment:  </a:t>
            </a:r>
            <a:r>
              <a:rPr sz="1200" b="0">
                <a:solidFill>
                  <a:srgbClr val="1E1E1E"/>
                </a:solidFill>
                <a:latin typeface="Calibri"/>
              </a:rPr>
              <a:t>Automated deterministic ETL replaces hours of manual VLOOKUP cleaning. Live ECB currency conversion ensures accurate cross-border financial reporting. Mathematical demand forecasting reduces stockout risks, while RFM segmentation improves customer retention.</a:t>
            </a:r>
          </a:p>
          <a:p>
            <a:pPr>
              <a:spcAft>
                <a:spcPts val="1400"/>
              </a:spcAft>
            </a:pPr>
            <a:r>
              <a:rPr sz="1200" b="1">
                <a:solidFill>
                  <a:srgbClr val="000000"/>
                </a:solidFill>
                <a:latin typeface="Calibri"/>
              </a:rPr>
              <a:t>Engineering Rigor &amp; Production Quality:  </a:t>
            </a:r>
            <a:r>
              <a:rPr sz="1200" b="0">
                <a:solidFill>
                  <a:srgbClr val="1E1E1E"/>
                </a:solidFill>
                <a:latin typeface="Calibri"/>
              </a:rPr>
              <a:t>Includes comprehensive pytest suites, Playwright browser end-to-end tests, Ruff linting, Docker containerization, and automated GitHub Actions CI verification workflows.</a:t>
            </a:r>
          </a:p>
          <a:p>
            <a:pPr>
              <a:spcAft>
                <a:spcPts val="1400"/>
              </a:spcAft>
            </a:pPr>
            <a:r>
              <a:rPr sz="1200" b="1">
                <a:solidFill>
                  <a:srgbClr val="000000"/>
                </a:solidFill>
                <a:latin typeface="Calibri"/>
              </a:rPr>
              <a:t>Public Open-Source Repository &amp; Demonstration:  </a:t>
            </a:r>
            <a:r>
              <a:rPr sz="1200" b="0">
                <a:solidFill>
                  <a:srgbClr val="1E1E1E"/>
                </a:solidFill>
                <a:latin typeface="Calibri"/>
              </a:rPr>
              <a:t>Full source code, reproducible setup scripts, and documentation are published on GitHub: https://github.com/Shlok-Dwivedi/OmniRetail. Thank you for your time; we are now ready for your questions and an interactive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